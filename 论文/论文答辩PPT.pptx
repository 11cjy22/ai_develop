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0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34495E"/>
                </a:solidFill>
              </a:defRPr>
            </a:pPr>
            <a:r>
              <a:t>基于深度学习的A股市场</a:t>
            </a:r>
          </a:p>
          <a:p>
            <a:r>
              <a:t>风险预测系统设计与实现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2980B9"/>
                </a:solidFill>
              </a:defRPr>
            </a:pPr>
            <a:r>
              <a:t>毕业设计答辩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34495E"/>
                </a:solidFill>
              </a:defRPr>
            </a:pPr>
            <a:r>
              <a:t>答辩人：XXX    指导教师：XXX</a:t>
            </a:r>
          </a:p>
          <a:p>
            <a:pPr algn="l">
              <a:defRPr sz="1800">
                <a:solidFill>
                  <a:srgbClr val="34495E"/>
                </a:solidFill>
              </a:defRPr>
            </a:pPr>
            <a:r>
              <a:t>2024年XX月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目录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01  研究背景与意义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02  国内外研究现状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03  系统总体设计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04  CNN-LSTM-Attention模型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05  数据处理与特征工程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06  实验结果与分析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07  系统实现与演示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08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研究背景与意义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01 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A股市场规模持续扩大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总市值超过80万亿元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上市公司超过5000家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投资者数量突破2亿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市场面临的主要挑战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波动性增加，风险复杂化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传统方法依赖主观判断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难以处理高维复杂数据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深度学习带来的机遇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强大的非线性建模能力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  - 自动学习数据特征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研究意义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80B9"/>
                </a:solidFill>
              </a:defRPr>
            </a:pPr>
            <a:r>
              <a:t>理论与技术意义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探索CNN-LSTM-Attention混合模型在时间序列预测中的有效性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多源数据融合技术（股票+黄金）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丰富金融科技理论研究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实践与社会意义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为投资者提供科学的风险预警工具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辅助投资决策，降低投资风险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促进资本市场健康发展，保护中小投资者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国内外研究现状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02 国内外研究现状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国外研究进展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Fischer &amp; Krauss (2018): LSTM预测标普500，优于传统统计模型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Sezer et al. (2020): CNN将时间序列转为图像进行特征提取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Chen et al. (2019): Attention机制识别关键时间步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国内研究进展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张伟等: LSTM预测沪深300指数，分析超参数影响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李明等: GRU+Attention预测上证指数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王强等: 深度强化学习在量化交易中的应用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现有研究不足 vs 本研究创新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80B9"/>
                </a:solidFill>
              </a:defRPr>
            </a:pPr>
            <a:r>
              <a:t>现有研究不足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仅关注单一资产预测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模型可解释性不足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缺少易用的应用系统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本研究创新点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CNN-LSTM-Attention混合架构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股票+黄金数据融合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可解释的风险分析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Streamlit可视化Web应用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系统总体设计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03 系统架构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三层架构设计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数据层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数据获取：akshare金融数据接口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数据存储：CSV文件、H5模型文件、PKL标准化器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业务逻辑层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数据预处理模块、特征工程模块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模型训练模块、风险预测模块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表现层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Streamlit Web应用框架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Plotly交互式数据可视化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开发语言：Python 3.8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深度学习框架：TensorFlow 2.x (Keras API)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数据处理：Pandas、NumPy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数据获取：akshare（免费金融数据接口）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Web框架：Streamlit（快速开发数据科学应用）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可视化：Plotly（交互式图表）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机器学习：scikit-learn（预处理、评估）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CNN-LSTM-Attention模型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04 模型架构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CNN层（卷积神经网络）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2层Conv1D：64和128滤波器，核大小3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作用：提取局部短期波动模式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LSTM层（长短期记忆网络）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2层LSTM：128和64隐藏单元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作用：学习长期时序依赖，捕捉趋势和周期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Attention层（注意力机制）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自动识别关键时间步，分配注意力权重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作用：提高准确性，增强可解释性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为什么选择混合模型？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各模块优势互补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CNN：擅长提取空间局部特征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通过卷积操作识别价格的短期波动模式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类似于识别图像中的边缘和纹理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LSTM：擅长建模时序依赖关系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通过门控机制解决传统RNN的梯度消失问题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能够学习长期依赖关系（几十到几百时间步）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Attention：识别关键信息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为重要时间步分配更大权重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提高预测准确性，增强模型可解释性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数据处理与特征工程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05 特征工程：17项技术指标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价格类（4项）：开盘价、收盘价、最高价、最低价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趋势类（2项）：MA5、MA20移动平均线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波动类（2项）：20日波动率、日收益率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MACD指标（3项）：DIFF、DEA、HIST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KDJ指标（3项）：K值、D值、J值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RSI指标（1项）：相对强弱指标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布林带（2项）：上轨、下轨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数据处理流程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1. 数据获取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沪深300、上证、深证、创业板指数 + 黄金价格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3. 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4. 数据清洗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缺失值填充（前向填充）、异常值检测（IQR方法）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6. 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7. 特征计算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计算17项技术指标（使用Pandas的rolling、ewm方法）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9. 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10. 标签构建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风险定义：次日跌幅 &gt; 1.5%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12. 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13. 数据标准化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Z-score标准化（均值0，标准差1）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15. 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16. 时间窗口构建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30天窗口，滑动构建样本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类别不平衡问题解决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82296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风险事件是少数类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6400800" cy="822960"/>
          </a:xfrm>
          <a:prstGeom prst="roundRect">
            <a:avLst/>
          </a:prstGeom>
          <a:solidFill>
            <a:srgbClr val="2980B9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26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类别权重平衡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840480"/>
            <a:ext cx="6400800" cy="822960"/>
          </a:xfrm>
          <a:prstGeom prst="roundRect">
            <a:avLst/>
          </a:prstGeom>
          <a:solidFill>
            <a:srgbClr val="E67E22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931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效果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31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召回率 20% → 82.5%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防过拟合策略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早停机制（Early Stopping）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连续10个epoch验证损失不降则停止训练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Dropout正则化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全连接层使用50% Dropout率，随机丢弃神经元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数据集划分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训练集:测试集 = 8:2，从训练集划分10%作验证集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最优模型检查点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保存验证集准确率最高的模型参数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批标准化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稳定训练过程，加速收敛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实验结果与分析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06 核心性能指标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828800"/>
            <a:ext cx="6400800" cy="822960"/>
          </a:xfrm>
          <a:prstGeom prst="roundRect">
            <a:avLst/>
          </a:prstGeom>
          <a:solidFill>
            <a:srgbClr val="2ECC71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92024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9202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87.3%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834640"/>
            <a:ext cx="6400800" cy="822960"/>
          </a:xfrm>
          <a:prstGeom prst="roundRect">
            <a:avLst/>
          </a:prstGeom>
          <a:solidFill>
            <a:srgbClr val="2980B9"/>
          </a:solidFill>
          <a:ln w="381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2608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</a:defRPr>
            </a:pPr>
            <a:r>
              <a:t>召回率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26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82.5%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840480"/>
            <a:ext cx="6400800" cy="822960"/>
          </a:xfrm>
          <a:prstGeom prst="roundRect">
            <a:avLst/>
          </a:prstGeom>
          <a:solidFill>
            <a:srgbClr val="E67E22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93192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</a:defRPr>
            </a:pPr>
            <a:r>
              <a:t>训练/测试差距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93192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4495E"/>
                </a:solidFill>
              </a:defRPr>
            </a:pPr>
            <a:r>
              <a:t>&lt; 3%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为什么重视召回率？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在金融风险预测中：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漏报风险（假阴性）的代价 &gt;&gt; 误报（假阳性）的代价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宁可错杀一千，不可放过一个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82.5%召回率意味着能够识别出大部分真实风险事件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为投资者提供有效的风险预警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模型性能对比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80B9"/>
                </a:solidFill>
              </a:defRPr>
            </a:pPr>
            <a:r>
              <a:t>对比实验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LSTM单独模型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准确率82%，召回率75%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CNN单独模型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准确率80%，召回率72%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CNN-LSTM-Attention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准确率87.3%，召回率82.5%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vs 传统方法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MA金叉/死叉策略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准确率70-75%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本模型提升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12-17个百分点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结论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  混合模型性能最优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系统实现与演示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07 功能模块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数据采集模块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从akshare自动获取最新行情数据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风险预测模块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加载训练好的模型，输出风险概率和预测结论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原因分析模块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分析价格趋势、均线位置、波动率、技术指标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生成可解释的投资建议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可视化模块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交互式价格走势图（Plotly）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技术指标叠加展示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可解释性设计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第一层：原因分析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价格趋势：判断当前上涨/下跌趋势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均线位置：分析金叉/死叉信号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波动率水平：高波动意味着风险增大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技术指标状态：MACD、KDJ、RSI的数值和信号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第二层：Attention权重可视化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显示模型最关注的历史时间步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增强决策透明度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投资建议生成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风险情况：建议观望或减仓，设置止损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安全情况：可适度参与，注意仓位控制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系统界面展示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基于Streamlit的Web应用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数据类型选择（股票/黄金）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指数选择（沪深300/上证/深证/创业板）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一键加载模型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风险预测：风险概率 + 预测结论 + 投资建议 + 原因分析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历史走势查看：交互式K线图，技术指标叠加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743200"/>
            <a:ext cx="4572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08 主要工作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设计CNN-LSTM-Attention混合神经网络模型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建立完整数据处理流程，计算17项技术指标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解决类别不平衡、过拟合等实际问题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开发Web可视化应用系统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达成目标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✓ 准确率87.3%，召回率82.5%（超过预期85%）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✓ 提供可解释的风险分析和投资建议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✓ 友好的用户界面和良好的用户体验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-274320" y="5943600"/>
            <a:ext cx="1371600" cy="1371600"/>
          </a:xfrm>
          <a:prstGeom prst="triangl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不足与改进方向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3931920" cy="502920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980B9"/>
                </a:solidFill>
              </a:defRPr>
            </a:pPr>
            <a:r>
              <a:t>当前不足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数据源单一（仅价格数据）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可解释性有待加强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预测时间跨度单一（仅次日）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实时性不足（使用日K线）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未部署到云端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7E22"/>
                </a:solidFill>
              </a:defRPr>
            </a:pPr>
            <a:r>
              <a:t>改进方向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多源数据融合（新闻、财报、宏观经济）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引入SHAP等可解释工具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多步预测（3天、5天、1周）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实时预警（分钟级、小时级数据）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600">
                <a:solidFill>
                  <a:srgbClr val="34495E"/>
                </a:solidFill>
              </a:defRPr>
            </a:pPr>
            <a:r>
              <a:t>• 云端部署、开发移动端APP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4400" b="1">
                <a:solidFill>
                  <a:srgbClr val="FFFFFF"/>
                </a:solidFill>
              </a:defRPr>
            </a:pPr>
            <a:r>
              <a:t>致谢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感谢导师的悉心指导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感谢学院各位老师的教诲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感谢同学们的帮助与支持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感谢家人的理解与鼓励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谢谢各位老师！</a:t>
            </a:r>
          </a:p>
          <a:p>
            <a:pPr algn="ctr">
              <a:spcBef>
                <a:spcPts val="800"/>
              </a:spcBef>
              <a:defRPr sz="2600">
                <a:solidFill>
                  <a:srgbClr val="FFFFFF"/>
                </a:solidFill>
              </a:defRPr>
            </a:pPr>
            <a:r>
              <a:t>请批评指正！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